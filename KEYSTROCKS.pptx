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74" y="2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6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ACF1A1B0-862D-4909-A7DB-D8ADA062DFCA}" type="datetimeFigureOut">
              <a:rPr lang="en-US" dirty="0"/>
              <a:t>5/13/2024</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vert="horz" lIns="45720" tIns="45720" rIns="45720" bIns="45720" rtlCol="0" anchor="ctr">
            <a:normAutofit/>
          </a:bodyPr>
          <a:lstStyle>
            <a:lvl1pPr>
              <a:defRPr lang="en-US"/>
            </a:lvl1pPr>
          </a:lstStyle>
          <a:p>
            <a:fld id="{4FAB73BC-B049-4115-A692-8D63A059BFB8}" type="slidenum">
              <a:rPr lang="en-US" dirty="0"/>
              <a:pPr/>
              <a:t>‹#›</a:t>
            </a:fld>
            <a:endParaRPr lang="en-US" dirty="0"/>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026881-8A08-449C-8D73-E5F201F814C1}" type="datetimeFigureOut">
              <a:rPr lang="en-US" dirty="0"/>
              <a:t>5/13/2024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EB5A5E-0C07-4E93-A112-D37B4D166B30}" type="datetimeFigureOut">
              <a:rPr lang="en-US" dirty="0"/>
              <a:t>5/13/2024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1F71C5-DC57-4358-A1EA-30C08AF6E3C5}" type="datetimeFigureOut">
              <a:rPr lang="en-US" dirty="0"/>
              <a:t>5/13/2024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7879"/>
            <a:ext cx="4480560" cy="731520"/>
          </a:xfrm>
        </p:spPr>
        <p:txBody>
          <a:bodyPr anchor="b">
            <a:normAutofit/>
          </a:bodyPr>
          <a:lstStyle>
            <a:lvl1pPr marL="0" indent="0">
              <a:spcBef>
                <a:spcPts val="0"/>
              </a:spcBef>
              <a:buNone/>
              <a:defRPr sz="2000" b="0">
                <a:solidFill>
                  <a:schemeClr val="tx1">
                    <a:lumMod val="6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3"/>
          </p:nvPr>
        </p:nvSpPr>
        <p:spPr>
          <a:xfrm>
            <a:off x="6126480" y="1717879"/>
            <a:ext cx="4480560" cy="731520"/>
          </a:xfrm>
        </p:spPr>
        <p:txBody>
          <a:bodyPr anchor="b">
            <a:normAutofit/>
          </a:bodyPr>
          <a:lstStyle>
            <a:lvl1pPr marL="0" indent="0">
              <a:spcBef>
                <a:spcPts val="0"/>
              </a:spcBef>
              <a:buFontTx/>
              <a:buNone/>
              <a:defRPr lang="en-US" sz="2000" b="0" kern="1200" spc="10" baseline="0" dirty="0">
                <a:solidFill>
                  <a:schemeClr val="tx1">
                    <a:lumMod val="65000"/>
                  </a:schemeClr>
                </a:solidFill>
                <a:latin typeface="+mn-lt"/>
                <a:ea typeface="+mn-ea"/>
                <a:cs typeface="+mn-cs"/>
              </a:defRPr>
            </a:lvl1pPr>
          </a:lstStyle>
          <a:p>
            <a:pPr lvl="0"/>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571DBA-DE60-4731-B773-47AAA185C143}" type="datetimeFigureOut">
              <a:rPr lang="en-US" dirty="0"/>
              <a:t>5/13/2024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170639-886C-4FCF-9EAB-ABB5DA3F3F4A}" type="datetimeFigureOut">
              <a:rPr lang="en-US" dirty="0"/>
              <a:t>5/13/2024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C4A628-C83B-4C66-83F4-1711CE3738FD}" type="datetimeFigureOut">
              <a:rPr lang="en-US" dirty="0"/>
              <a:t>5/13/2024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8C1D73-9400-43CA-A37F-F9B7D00DE14C}" type="datetimeFigureOut">
              <a:rPr lang="en-US" dirty="0"/>
              <a:t>5/13/2024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tx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8B7711-B905-4633-B4D7-6F3A49A2E7D9}" type="datetimeFigureOut">
              <a:rPr lang="en-US" dirty="0"/>
              <a:t>5/13/2024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156144-9CB7-4E3A-B87E-A382F9BE05EF}" type="datetimeFigureOut">
              <a:rPr lang="en-US" dirty="0"/>
              <a:t>5/13/2024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43D55F-46AB-4791-9172-4FA8DD3A6A9C}" type="datetimeFigureOut">
              <a:rPr lang="en-US" dirty="0"/>
              <a:t>5/13/2024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1">
                    <a:lumMod val="50000"/>
                  </a:schemeClr>
                </a:solidFill>
              </a:defRPr>
            </a:lvl1pPr>
          </a:lstStyle>
          <a:p>
            <a:fld id="{89C235CF-BDA2-4E7E-8BBD-350479985E74}" type="datetimeFigureOut">
              <a:rPr lang="en-US" dirty="0"/>
              <a:pPr/>
              <a:t>5/13/2024</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rgbClr val="969696"/>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rgbClr val="777777"/>
                </a:solidFill>
              </a:defRPr>
            </a:lvl1pPr>
          </a:lstStyle>
          <a:p>
            <a:fld id="{4FAB73BC-B049-4115-A692-8D63A059BFB8}"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52"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F311C-1763-6C07-F87C-05771BF7E7E6}"/>
              </a:ext>
            </a:extLst>
          </p:cNvPr>
          <p:cNvSpPr>
            <a:spLocks noGrp="1"/>
          </p:cNvSpPr>
          <p:nvPr>
            <p:ph type="ctrTitle"/>
          </p:nvPr>
        </p:nvSpPr>
        <p:spPr/>
        <p:txBody>
          <a:bodyPr/>
          <a:lstStyle/>
          <a:p>
            <a:r>
              <a:rPr lang="en-IN" dirty="0"/>
              <a:t>KEYLOGGER</a:t>
            </a:r>
          </a:p>
        </p:txBody>
      </p:sp>
      <p:sp>
        <p:nvSpPr>
          <p:cNvPr id="3" name="Subtitle 2">
            <a:extLst>
              <a:ext uri="{FF2B5EF4-FFF2-40B4-BE49-F238E27FC236}">
                <a16:creationId xmlns:a16="http://schemas.microsoft.com/office/drawing/2014/main" id="{AE893FD1-98AE-1268-EE4C-1DF2B0CD1634}"/>
              </a:ext>
            </a:extLst>
          </p:cNvPr>
          <p:cNvSpPr>
            <a:spLocks noGrp="1"/>
          </p:cNvSpPr>
          <p:nvPr>
            <p:ph type="subTitle" idx="1"/>
          </p:nvPr>
        </p:nvSpPr>
        <p:spPr/>
        <p:txBody>
          <a:bodyPr/>
          <a:lstStyle/>
          <a:p>
            <a:r>
              <a:rPr lang="en-IN" dirty="0"/>
              <a:t>Operating System : Windows 7 / Windows 10 </a:t>
            </a:r>
          </a:p>
          <a:p>
            <a:r>
              <a:rPr lang="en-IN" dirty="0"/>
              <a:t>IDE 		        : Python </a:t>
            </a:r>
          </a:p>
        </p:txBody>
      </p:sp>
    </p:spTree>
    <p:extLst>
      <p:ext uri="{BB962C8B-B14F-4D97-AF65-F5344CB8AC3E}">
        <p14:creationId xmlns:p14="http://schemas.microsoft.com/office/powerpoint/2010/main" val="681469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508C7-2FC5-E133-7E66-3273CF9EB3B9}"/>
              </a:ext>
            </a:extLst>
          </p:cNvPr>
          <p:cNvSpPr>
            <a:spLocks noGrp="1"/>
          </p:cNvSpPr>
          <p:nvPr>
            <p:ph type="title"/>
          </p:nvPr>
        </p:nvSpPr>
        <p:spPr/>
        <p:txBody>
          <a:bodyPr/>
          <a:lstStyle/>
          <a:p>
            <a:r>
              <a:rPr lang="en-IN" dirty="0"/>
              <a:t>Introduction </a:t>
            </a:r>
          </a:p>
        </p:txBody>
      </p:sp>
      <p:sp>
        <p:nvSpPr>
          <p:cNvPr id="3" name="Content Placeholder 2">
            <a:extLst>
              <a:ext uri="{FF2B5EF4-FFF2-40B4-BE49-F238E27FC236}">
                <a16:creationId xmlns:a16="http://schemas.microsoft.com/office/drawing/2014/main" id="{28126BC8-79CE-60DC-8D75-400A3C819C46}"/>
              </a:ext>
            </a:extLst>
          </p:cNvPr>
          <p:cNvSpPr>
            <a:spLocks noGrp="1"/>
          </p:cNvSpPr>
          <p:nvPr>
            <p:ph idx="1"/>
          </p:nvPr>
        </p:nvSpPr>
        <p:spPr/>
        <p:txBody>
          <a:bodyPr/>
          <a:lstStyle/>
          <a:p>
            <a:r>
              <a:rPr lang="en-IN" dirty="0"/>
              <a:t>Key loggers also known as keystroke loggers, may be defined as the recording of the key pressed on a system and saved it to a file, and the that file is accessed by the person using this malware.</a:t>
            </a:r>
          </a:p>
          <a:p>
            <a:r>
              <a:rPr lang="en-IN" dirty="0"/>
              <a:t> Key logger can be software or can be hardware. Working: Mainly key-loggers are used to steal password or confidential details such as bank information etc.</a:t>
            </a:r>
          </a:p>
          <a:p>
            <a:r>
              <a:rPr lang="en-IN" dirty="0"/>
              <a:t> First key-logger was invented in 1970’s and was a hardware key logger and first software key-logger was developed in 1983.</a:t>
            </a:r>
          </a:p>
        </p:txBody>
      </p:sp>
    </p:spTree>
    <p:extLst>
      <p:ext uri="{BB962C8B-B14F-4D97-AF65-F5344CB8AC3E}">
        <p14:creationId xmlns:p14="http://schemas.microsoft.com/office/powerpoint/2010/main" val="1078463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587D6-78A0-BBC9-5564-3F41C8B42FD2}"/>
              </a:ext>
            </a:extLst>
          </p:cNvPr>
          <p:cNvSpPr>
            <a:spLocks noGrp="1"/>
          </p:cNvSpPr>
          <p:nvPr>
            <p:ph type="title"/>
          </p:nvPr>
        </p:nvSpPr>
        <p:spPr/>
        <p:txBody>
          <a:bodyPr/>
          <a:lstStyle/>
          <a:p>
            <a:r>
              <a:rPr lang="en-IN" dirty="0"/>
              <a:t>Purpose</a:t>
            </a:r>
          </a:p>
        </p:txBody>
      </p:sp>
      <p:sp>
        <p:nvSpPr>
          <p:cNvPr id="3" name="Content Placeholder 2">
            <a:extLst>
              <a:ext uri="{FF2B5EF4-FFF2-40B4-BE49-F238E27FC236}">
                <a16:creationId xmlns:a16="http://schemas.microsoft.com/office/drawing/2014/main" id="{AA7E4EDB-9568-972B-5C0B-0603D44A9B29}"/>
              </a:ext>
            </a:extLst>
          </p:cNvPr>
          <p:cNvSpPr>
            <a:spLocks noGrp="1"/>
          </p:cNvSpPr>
          <p:nvPr>
            <p:ph idx="1"/>
          </p:nvPr>
        </p:nvSpPr>
        <p:spPr/>
        <p:txBody>
          <a:bodyPr/>
          <a:lstStyle/>
          <a:p>
            <a:r>
              <a:rPr lang="en-IN" dirty="0"/>
              <a:t>Keylogger attempt to retrieve confidential information by capturing user input via keystroke monitoring and leaking this information for malicious purposes.</a:t>
            </a:r>
          </a:p>
          <a:p>
            <a:r>
              <a:rPr lang="en-IN" dirty="0"/>
              <a:t> Keyloggers are a particularly insidious type of spyware that can record and steal consecutive keystrokes (and much more) that the user enters on a device. </a:t>
            </a:r>
          </a:p>
          <a:p>
            <a:r>
              <a:rPr lang="en-IN" dirty="0"/>
              <a:t>The term keylogger, or "keystroke logger," is self-explanatory: Software that logs what you type on your keyboard. However, keyloggers can also enable cybercriminals to eavesdrop on you, watch you on your system camera, or listen over your smartphone's microphone. Keywords: Keyboard, Keystrokes, Monitoring, Key typed, Capturing.</a:t>
            </a:r>
          </a:p>
        </p:txBody>
      </p:sp>
    </p:spTree>
    <p:extLst>
      <p:ext uri="{BB962C8B-B14F-4D97-AF65-F5344CB8AC3E}">
        <p14:creationId xmlns:p14="http://schemas.microsoft.com/office/powerpoint/2010/main" val="669235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9A8DA-C2BE-F5E7-D70A-550C808C9009}"/>
              </a:ext>
            </a:extLst>
          </p:cNvPr>
          <p:cNvSpPr>
            <a:spLocks noGrp="1"/>
          </p:cNvSpPr>
          <p:nvPr>
            <p:ph type="title"/>
          </p:nvPr>
        </p:nvSpPr>
        <p:spPr/>
        <p:txBody>
          <a:bodyPr/>
          <a:lstStyle/>
          <a:p>
            <a:r>
              <a:rPr lang="en-IN" dirty="0"/>
              <a:t>Scope</a:t>
            </a:r>
          </a:p>
        </p:txBody>
      </p:sp>
      <p:sp>
        <p:nvSpPr>
          <p:cNvPr id="3" name="Content Placeholder 2">
            <a:extLst>
              <a:ext uri="{FF2B5EF4-FFF2-40B4-BE49-F238E27FC236}">
                <a16:creationId xmlns:a16="http://schemas.microsoft.com/office/drawing/2014/main" id="{FA91D44A-22C8-0D8C-BF20-AF8FF980A611}"/>
              </a:ext>
            </a:extLst>
          </p:cNvPr>
          <p:cNvSpPr>
            <a:spLocks noGrp="1"/>
          </p:cNvSpPr>
          <p:nvPr>
            <p:ph idx="1"/>
          </p:nvPr>
        </p:nvSpPr>
        <p:spPr/>
        <p:txBody>
          <a:bodyPr>
            <a:normAutofit/>
          </a:bodyPr>
          <a:lstStyle/>
          <a:p>
            <a:r>
              <a:rPr lang="en-IN" dirty="0"/>
              <a:t> Keyloggers are not always illegal to install and use: </a:t>
            </a:r>
          </a:p>
          <a:p>
            <a:r>
              <a:rPr lang="en-IN" dirty="0"/>
              <a:t>▪ Corporations use them for troubleshooting or monitoring employees.</a:t>
            </a:r>
          </a:p>
          <a:p>
            <a:r>
              <a:rPr lang="en-IN" dirty="0"/>
              <a:t> ▪ Parents may monitor their children’s activities. </a:t>
            </a:r>
          </a:p>
          <a:p>
            <a:r>
              <a:rPr lang="en-IN" dirty="0"/>
              <a:t> The concern arises when malicious actors use keyloggers without owning the device they infect. </a:t>
            </a:r>
          </a:p>
          <a:p>
            <a:r>
              <a:rPr lang="en-IN" dirty="0"/>
              <a:t> Unauthorized keyloggers can steal passwords, take screenshots, record web pages, and collect sensitive financial information, sending it to remote servers for criminal purposes. </a:t>
            </a:r>
          </a:p>
          <a:p>
            <a:r>
              <a:rPr lang="en-IN" dirty="0"/>
              <a:t> Install reputable antivirus software that detects and removes keyloggers. </a:t>
            </a:r>
          </a:p>
          <a:p>
            <a:r>
              <a:rPr lang="en-IN" dirty="0"/>
              <a:t> Be cautious when downloading software or clicking on suspicious links</a:t>
            </a:r>
          </a:p>
        </p:txBody>
      </p:sp>
    </p:spTree>
    <p:extLst>
      <p:ext uri="{BB962C8B-B14F-4D97-AF65-F5344CB8AC3E}">
        <p14:creationId xmlns:p14="http://schemas.microsoft.com/office/powerpoint/2010/main" val="2552438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32969-C72E-0A3A-4B09-0A61B48E207B}"/>
              </a:ext>
            </a:extLst>
          </p:cNvPr>
          <p:cNvSpPr>
            <a:spLocks noGrp="1"/>
          </p:cNvSpPr>
          <p:nvPr>
            <p:ph type="title"/>
          </p:nvPr>
        </p:nvSpPr>
        <p:spPr/>
        <p:txBody>
          <a:bodyPr/>
          <a:lstStyle/>
          <a:p>
            <a:r>
              <a:rPr lang="en-IN" dirty="0"/>
              <a:t>Definitions, Acronyms and Abbreviation</a:t>
            </a:r>
          </a:p>
        </p:txBody>
      </p:sp>
      <p:sp>
        <p:nvSpPr>
          <p:cNvPr id="3" name="Content Placeholder 2">
            <a:extLst>
              <a:ext uri="{FF2B5EF4-FFF2-40B4-BE49-F238E27FC236}">
                <a16:creationId xmlns:a16="http://schemas.microsoft.com/office/drawing/2014/main" id="{581073DE-8C60-0A93-B8F2-05DF29E5711D}"/>
              </a:ext>
            </a:extLst>
          </p:cNvPr>
          <p:cNvSpPr>
            <a:spLocks noGrp="1"/>
          </p:cNvSpPr>
          <p:nvPr>
            <p:ph idx="1"/>
          </p:nvPr>
        </p:nvSpPr>
        <p:spPr/>
        <p:txBody>
          <a:bodyPr>
            <a:normAutofit lnSpcReduction="10000"/>
          </a:bodyPr>
          <a:lstStyle/>
          <a:p>
            <a:r>
              <a:rPr lang="en-IN" dirty="0"/>
              <a:t>1. Keylogger Definition: </a:t>
            </a:r>
          </a:p>
          <a:p>
            <a:r>
              <a:rPr lang="en-IN" dirty="0"/>
              <a:t>A keylogger is a software or hardware component that records everything typed on your computer’s keyboard. </a:t>
            </a:r>
          </a:p>
          <a:p>
            <a:r>
              <a:rPr lang="en-IN" dirty="0"/>
              <a:t>2. Brief History of Keyloggers: </a:t>
            </a:r>
          </a:p>
          <a:p>
            <a:r>
              <a:rPr lang="en-IN" dirty="0"/>
              <a:t>Keyloggers have been used for spying since the early days of computers. </a:t>
            </a:r>
          </a:p>
          <a:p>
            <a:r>
              <a:rPr lang="en-IN" dirty="0"/>
              <a:t>In the 1970s and early 1980s, keyloggers served various purposes, including secret government operations. </a:t>
            </a:r>
          </a:p>
          <a:p>
            <a:r>
              <a:rPr lang="en-IN" dirty="0"/>
              <a:t>3. Ethical Perspectives: </a:t>
            </a:r>
          </a:p>
          <a:p>
            <a:r>
              <a:rPr lang="en-IN" dirty="0"/>
              <a:t>The morality, legality, and consequences of using a keylogger depend on factors like consent, intent, and local regulations. </a:t>
            </a:r>
          </a:p>
          <a:p>
            <a:r>
              <a:rPr lang="en-IN" dirty="0"/>
              <a:t>Keyloggers can be categorized as legitimate, illegitimate, or existing in a ‘grey area’.</a:t>
            </a:r>
          </a:p>
        </p:txBody>
      </p:sp>
    </p:spTree>
    <p:extLst>
      <p:ext uri="{BB962C8B-B14F-4D97-AF65-F5344CB8AC3E}">
        <p14:creationId xmlns:p14="http://schemas.microsoft.com/office/powerpoint/2010/main" val="1890130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83249-D40B-A9ED-709A-0C7B984EFB40}"/>
              </a:ext>
            </a:extLst>
          </p:cNvPr>
          <p:cNvSpPr>
            <a:spLocks noGrp="1"/>
          </p:cNvSpPr>
          <p:nvPr>
            <p:ph type="title"/>
          </p:nvPr>
        </p:nvSpPr>
        <p:spPr/>
        <p:txBody>
          <a:bodyPr/>
          <a:lstStyle/>
          <a:p>
            <a:r>
              <a:rPr lang="en-IN" dirty="0"/>
              <a:t>References </a:t>
            </a:r>
          </a:p>
        </p:txBody>
      </p:sp>
      <p:sp>
        <p:nvSpPr>
          <p:cNvPr id="3" name="Content Placeholder 2">
            <a:extLst>
              <a:ext uri="{FF2B5EF4-FFF2-40B4-BE49-F238E27FC236}">
                <a16:creationId xmlns:a16="http://schemas.microsoft.com/office/drawing/2014/main" id="{84BE64B8-53DB-48DD-DF43-D76C5872ECFA}"/>
              </a:ext>
            </a:extLst>
          </p:cNvPr>
          <p:cNvSpPr>
            <a:spLocks noGrp="1"/>
          </p:cNvSpPr>
          <p:nvPr>
            <p:ph idx="1"/>
          </p:nvPr>
        </p:nvSpPr>
        <p:spPr/>
        <p:txBody>
          <a:bodyPr>
            <a:normAutofit fontScale="85000" lnSpcReduction="20000"/>
          </a:bodyPr>
          <a:lstStyle/>
          <a:p>
            <a:r>
              <a:rPr lang="en-IN" dirty="0"/>
              <a:t>1.Ethical Hacking - </a:t>
            </a:r>
            <a:r>
              <a:rPr lang="en-IN" dirty="0" err="1"/>
              <a:t>KeyLoggers</a:t>
            </a:r>
            <a:r>
              <a:rPr lang="en-IN" dirty="0"/>
              <a:t> (</a:t>
            </a:r>
            <a:r>
              <a:rPr lang="en-IN" dirty="0" err="1"/>
              <a:t>GeeksforGeeks</a:t>
            </a:r>
            <a:r>
              <a:rPr lang="en-IN" dirty="0"/>
              <a:t>):      This article provides insights into keyloggers, their types (software and hardware), and their uses. It also discusses protection techniques and features to look for in keylogger software. The post covers both legitimate and illegitimate use cases.</a:t>
            </a:r>
          </a:p>
          <a:p>
            <a:r>
              <a:rPr lang="en-IN" dirty="0"/>
              <a:t> 2. GitHub Repositories on Keyloggers:    GitHub hosts numerous public repositories related to keyloggers. Developers and researchers share code, tools, and resources related to keylogging. You can explore these repositories to learn more. </a:t>
            </a:r>
          </a:p>
          <a:p>
            <a:r>
              <a:rPr lang="en-IN" dirty="0"/>
              <a:t>3. Avast Definition of Keyloggers:     Avast explains that a keylogger is a type of malicious software that records every keystroke made on a computer. It’s one of the most invasive forms of malware, capturing everything you type. The article emphasizes the importance of protecting against keyloggers. </a:t>
            </a:r>
          </a:p>
          <a:p>
            <a:r>
              <a:rPr lang="en-IN" dirty="0"/>
              <a:t>4. Norton Insights on Keyloggers:      Norton discusses how keyloggers are commonly spread online via phishing scams, Trojan viruses, and fake websites. The goal is often to obtain victims’ passwords, personal information, and banking details. The article distinguishes between software and hardware keyloggers. </a:t>
            </a:r>
          </a:p>
          <a:p>
            <a:r>
              <a:rPr lang="en-IN" dirty="0"/>
              <a:t>5. Fortinet Explanation of Keyloggers:     Fortinet defines keyloggers as malware or hardware that tracks and records keystrokes as users type. The captured information is then sent to a hacker via a command-and-control server. The article provides insights into their functioning.</a:t>
            </a:r>
          </a:p>
        </p:txBody>
      </p:sp>
    </p:spTree>
    <p:extLst>
      <p:ext uri="{BB962C8B-B14F-4D97-AF65-F5344CB8AC3E}">
        <p14:creationId xmlns:p14="http://schemas.microsoft.com/office/powerpoint/2010/main" val="2821636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D9EC0-0AE6-E123-A379-39375CACAA94}"/>
              </a:ext>
            </a:extLst>
          </p:cNvPr>
          <p:cNvSpPr>
            <a:spLocks noGrp="1"/>
          </p:cNvSpPr>
          <p:nvPr>
            <p:ph type="title"/>
          </p:nvPr>
        </p:nvSpPr>
        <p:spPr/>
        <p:txBody>
          <a:bodyPr/>
          <a:lstStyle/>
          <a:p>
            <a:r>
              <a:rPr lang="en-IN" dirty="0"/>
              <a:t>Overview</a:t>
            </a:r>
          </a:p>
        </p:txBody>
      </p:sp>
      <p:sp>
        <p:nvSpPr>
          <p:cNvPr id="3" name="Content Placeholder 2">
            <a:extLst>
              <a:ext uri="{FF2B5EF4-FFF2-40B4-BE49-F238E27FC236}">
                <a16:creationId xmlns:a16="http://schemas.microsoft.com/office/drawing/2014/main" id="{FC877E5F-BBD8-1C56-78E3-891E9C1E2CE9}"/>
              </a:ext>
            </a:extLst>
          </p:cNvPr>
          <p:cNvSpPr>
            <a:spLocks noGrp="1"/>
          </p:cNvSpPr>
          <p:nvPr>
            <p:ph idx="1"/>
          </p:nvPr>
        </p:nvSpPr>
        <p:spPr/>
        <p:txBody>
          <a:bodyPr/>
          <a:lstStyle/>
          <a:p>
            <a:r>
              <a:rPr lang="en-IN" dirty="0"/>
              <a:t> Malicious keyloggers can Steal passwords. </a:t>
            </a:r>
          </a:p>
          <a:p>
            <a:r>
              <a:rPr lang="en-IN" dirty="0"/>
              <a:t> Periodically take screenshots</a:t>
            </a:r>
          </a:p>
          <a:p>
            <a:r>
              <a:rPr lang="en-IN" dirty="0"/>
              <a:t> Record web pages visited. </a:t>
            </a:r>
          </a:p>
          <a:p>
            <a:r>
              <a:rPr lang="en-IN" dirty="0"/>
              <a:t> Capture sent emails and instant messaging sessions. </a:t>
            </a:r>
          </a:p>
          <a:p>
            <a:r>
              <a:rPr lang="en-IN" dirty="0"/>
              <a:t> Collect sensitive financial information (credit card numbers, PIN codes, bank accounts). </a:t>
            </a:r>
          </a:p>
          <a:p>
            <a:r>
              <a:rPr lang="en-IN" dirty="0"/>
              <a:t> Send all this data over the network to a remote computer or web server</a:t>
            </a:r>
          </a:p>
        </p:txBody>
      </p:sp>
    </p:spTree>
    <p:extLst>
      <p:ext uri="{BB962C8B-B14F-4D97-AF65-F5344CB8AC3E}">
        <p14:creationId xmlns:p14="http://schemas.microsoft.com/office/powerpoint/2010/main" val="1147565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D9001-A57E-FA4C-3BE7-5FF4C160A85F}"/>
              </a:ext>
            </a:extLst>
          </p:cNvPr>
          <p:cNvSpPr>
            <a:spLocks noGrp="1"/>
          </p:cNvSpPr>
          <p:nvPr>
            <p:ph type="title"/>
          </p:nvPr>
        </p:nvSpPr>
        <p:spPr/>
        <p:txBody>
          <a:bodyPr/>
          <a:lstStyle/>
          <a:p>
            <a:r>
              <a:rPr lang="en-IN" dirty="0"/>
              <a:t>Overall Description</a:t>
            </a:r>
          </a:p>
        </p:txBody>
      </p:sp>
      <p:sp>
        <p:nvSpPr>
          <p:cNvPr id="3" name="Content Placeholder 2">
            <a:extLst>
              <a:ext uri="{FF2B5EF4-FFF2-40B4-BE49-F238E27FC236}">
                <a16:creationId xmlns:a16="http://schemas.microsoft.com/office/drawing/2014/main" id="{88815C40-524A-0BCF-D85B-E3E872488D4E}"/>
              </a:ext>
            </a:extLst>
          </p:cNvPr>
          <p:cNvSpPr>
            <a:spLocks noGrp="1"/>
          </p:cNvSpPr>
          <p:nvPr>
            <p:ph idx="1"/>
          </p:nvPr>
        </p:nvSpPr>
        <p:spPr/>
        <p:txBody>
          <a:bodyPr>
            <a:normAutofit fontScale="85000" lnSpcReduction="20000"/>
          </a:bodyPr>
          <a:lstStyle/>
          <a:p>
            <a:r>
              <a:rPr lang="en-IN" dirty="0"/>
              <a:t>product perspective Keyloggers, also known as keystroke loggers, are tools designed to record every keystroke made on a device. </a:t>
            </a:r>
          </a:p>
          <a:p>
            <a:r>
              <a:rPr lang="en-IN" dirty="0"/>
              <a:t>While some legitimate and legal uses exist for keyloggers, they are often associated with malicious activities. Here’s what you need to know:</a:t>
            </a:r>
          </a:p>
          <a:p>
            <a:r>
              <a:rPr lang="en-IN" dirty="0"/>
              <a:t> 1. Functionality: A keylogger silently captures and logs every keystroke entered by a user.</a:t>
            </a:r>
          </a:p>
          <a:p>
            <a:r>
              <a:rPr lang="en-IN" dirty="0"/>
              <a:t>It records information typed on keyboards, including sensitive data like passwords, credit card numbers, and messages.</a:t>
            </a:r>
          </a:p>
          <a:p>
            <a:r>
              <a:rPr lang="en-IN" dirty="0"/>
              <a:t> Keyloggers operate in the background, often without the user’s knowledge.</a:t>
            </a:r>
          </a:p>
          <a:p>
            <a:pPr marL="0" indent="0">
              <a:buNone/>
            </a:pPr>
            <a:r>
              <a:rPr lang="en-IN" dirty="0"/>
              <a:t> 2. Malicious Uses:    Cybercriminals deploy keyloggers to steal sensitive information.</a:t>
            </a:r>
          </a:p>
          <a:p>
            <a:r>
              <a:rPr lang="en-IN" dirty="0"/>
              <a:t> An infamous example is the </a:t>
            </a:r>
            <a:r>
              <a:rPr lang="en-IN" dirty="0" err="1"/>
              <a:t>DarkHotel</a:t>
            </a:r>
            <a:r>
              <a:rPr lang="en-IN" dirty="0"/>
              <a:t> attack, where hackers exploit unsecured hotel Wi-Fi networks. They prompt users to download software that acts as a keylogger, recording keystrokes and sending them to the attackers.</a:t>
            </a:r>
          </a:p>
          <a:p>
            <a:r>
              <a:rPr lang="en-IN" dirty="0" err="1"/>
              <a:t>DarkHotel</a:t>
            </a:r>
            <a:r>
              <a:rPr lang="en-IN" dirty="0"/>
              <a:t> then self-deletes after a certain number of recorded keystrokes to avoid detection.</a:t>
            </a:r>
          </a:p>
          <a:p>
            <a:pPr marL="0" indent="0">
              <a:buNone/>
            </a:pPr>
            <a:r>
              <a:rPr lang="en-IN" dirty="0"/>
              <a:t> </a:t>
            </a:r>
          </a:p>
        </p:txBody>
      </p:sp>
    </p:spTree>
    <p:extLst>
      <p:ext uri="{BB962C8B-B14F-4D97-AF65-F5344CB8AC3E}">
        <p14:creationId xmlns:p14="http://schemas.microsoft.com/office/powerpoint/2010/main" val="69848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E579D1-6FB0-926E-D6AA-508F2ADACB64}"/>
              </a:ext>
            </a:extLst>
          </p:cNvPr>
          <p:cNvSpPr>
            <a:spLocks noGrp="1"/>
          </p:cNvSpPr>
          <p:nvPr>
            <p:ph idx="1"/>
          </p:nvPr>
        </p:nvSpPr>
        <p:spPr>
          <a:xfrm>
            <a:off x="1261872" y="502920"/>
            <a:ext cx="8595360" cy="5677217"/>
          </a:xfrm>
        </p:spPr>
        <p:txBody>
          <a:bodyPr/>
          <a:lstStyle/>
          <a:p>
            <a:r>
              <a:rPr lang="en-IN" dirty="0"/>
              <a:t>3. Legitimate Uses: Not all keyloggers are malicious. Some legal scenarios include: </a:t>
            </a:r>
          </a:p>
          <a:p>
            <a:r>
              <a:rPr lang="en-IN" dirty="0"/>
              <a:t>▪ Parental Monitoring: Parents may use keyloggers to track their child’s screen time and online activity.</a:t>
            </a:r>
          </a:p>
          <a:p>
            <a:r>
              <a:rPr lang="en-IN" dirty="0"/>
              <a:t> ▪ Employee Monitoring: Companies use keyloggers as part of employee monitoring software to enhance productivity.</a:t>
            </a:r>
          </a:p>
          <a:p>
            <a:r>
              <a:rPr lang="en-IN" dirty="0"/>
              <a:t> ▪ IT Troubleshooting: IT departments employ keyloggers to troubleshoot issues on devices. </a:t>
            </a:r>
          </a:p>
          <a:p>
            <a:r>
              <a:rPr lang="en-IN" dirty="0"/>
              <a:t>4. Information Captured: o Keyloggers capture a wide range of data:</a:t>
            </a:r>
          </a:p>
          <a:p>
            <a:r>
              <a:rPr lang="en-IN" dirty="0"/>
              <a:t>▪ Credit Card Information: If you enter credit card details, a keylogger can record them.</a:t>
            </a:r>
          </a:p>
          <a:p>
            <a:r>
              <a:rPr lang="en-IN" dirty="0"/>
              <a:t> ▪ Websites Visited: It tracks the URLs you visit.</a:t>
            </a:r>
          </a:p>
          <a:p>
            <a:r>
              <a:rPr lang="en-IN" dirty="0"/>
              <a:t> ▪ Passwords: Any password you type is vulnerable</a:t>
            </a:r>
          </a:p>
        </p:txBody>
      </p:sp>
    </p:spTree>
    <p:extLst>
      <p:ext uri="{BB962C8B-B14F-4D97-AF65-F5344CB8AC3E}">
        <p14:creationId xmlns:p14="http://schemas.microsoft.com/office/powerpoint/2010/main" val="85749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966275-BDF8-3992-A41B-9C51C48ED8B1}"/>
              </a:ext>
            </a:extLst>
          </p:cNvPr>
          <p:cNvSpPr>
            <a:spLocks noGrp="1"/>
          </p:cNvSpPr>
          <p:nvPr>
            <p:ph idx="1"/>
          </p:nvPr>
        </p:nvSpPr>
        <p:spPr>
          <a:xfrm>
            <a:off x="1371600" y="265176"/>
            <a:ext cx="8595360" cy="6373368"/>
          </a:xfrm>
        </p:spPr>
        <p:txBody>
          <a:bodyPr>
            <a:normAutofit/>
          </a:bodyPr>
          <a:lstStyle/>
          <a:p>
            <a:r>
              <a:rPr lang="en-IN" dirty="0"/>
              <a:t>2.2. product functions</a:t>
            </a:r>
          </a:p>
          <a:p>
            <a:r>
              <a:rPr lang="en-IN" dirty="0"/>
              <a:t> 1. Keystroke Logging:  The primary function of a keylogger is to record every keystroke made by a user on a device.  It captures information entered via the keyboard, including: </a:t>
            </a:r>
          </a:p>
          <a:p>
            <a:r>
              <a:rPr lang="en-IN" dirty="0"/>
              <a:t>▪ Passwords: Keyloggers can track login credentials, PINs, and other sensitive data. </a:t>
            </a:r>
          </a:p>
          <a:p>
            <a:r>
              <a:rPr lang="en-IN" dirty="0"/>
              <a:t>▪ Messages: They record messages typed in chat applications, emails, and other communication platforms. </a:t>
            </a:r>
          </a:p>
          <a:p>
            <a:r>
              <a:rPr lang="en-IN" dirty="0"/>
              <a:t>▪ Commands: Keyloggers capture commands executed in the command prompt or terminal. </a:t>
            </a:r>
          </a:p>
          <a:p>
            <a:r>
              <a:rPr lang="en-IN" dirty="0"/>
              <a:t>2. Data Collection:  Keyloggers collect a wide range of data beyond keystrokes:</a:t>
            </a:r>
          </a:p>
          <a:p>
            <a:r>
              <a:rPr lang="en-IN" dirty="0"/>
              <a:t> ▪ Websites Visited: They track URLs visited by the user.</a:t>
            </a:r>
          </a:p>
          <a:p>
            <a:r>
              <a:rPr lang="en-IN" dirty="0"/>
              <a:t> ▪ Applications Launched: Keyloggers record which programs are opened.</a:t>
            </a:r>
          </a:p>
          <a:p>
            <a:r>
              <a:rPr lang="en-IN" dirty="0"/>
              <a:t> ▪ File Operations: Changes to files (creation, modification, deletion) are logged</a:t>
            </a:r>
          </a:p>
        </p:txBody>
      </p:sp>
    </p:spTree>
    <p:extLst>
      <p:ext uri="{BB962C8B-B14F-4D97-AF65-F5344CB8AC3E}">
        <p14:creationId xmlns:p14="http://schemas.microsoft.com/office/powerpoint/2010/main" val="3754733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9DE735-468F-7D9E-CB9A-FB52038F0AA8}"/>
              </a:ext>
            </a:extLst>
          </p:cNvPr>
          <p:cNvSpPr>
            <a:spLocks noGrp="1"/>
          </p:cNvSpPr>
          <p:nvPr>
            <p:ph idx="1"/>
          </p:nvPr>
        </p:nvSpPr>
        <p:spPr>
          <a:xfrm>
            <a:off x="1408176" y="237744"/>
            <a:ext cx="8595360" cy="6080760"/>
          </a:xfrm>
        </p:spPr>
        <p:txBody>
          <a:bodyPr/>
          <a:lstStyle/>
          <a:p>
            <a:r>
              <a:rPr lang="en-IN" dirty="0"/>
              <a:t>. 3. Stealth Mode: Keyloggers operate silently in the background, often without the user’s awareness. </a:t>
            </a:r>
          </a:p>
          <a:p>
            <a:r>
              <a:rPr lang="en-IN" dirty="0"/>
              <a:t> They avoid detection by:</a:t>
            </a:r>
          </a:p>
          <a:p>
            <a:r>
              <a:rPr lang="en-IN" dirty="0"/>
              <a:t>  Hiding Processes: Keyloggers don’t appear in the task manager or process list. </a:t>
            </a:r>
          </a:p>
          <a:p>
            <a:r>
              <a:rPr lang="en-IN" dirty="0"/>
              <a:t> Low Resource Usage: They minimize CPU and memory usage.</a:t>
            </a:r>
          </a:p>
        </p:txBody>
      </p:sp>
    </p:spTree>
    <p:extLst>
      <p:ext uri="{BB962C8B-B14F-4D97-AF65-F5344CB8AC3E}">
        <p14:creationId xmlns:p14="http://schemas.microsoft.com/office/powerpoint/2010/main" val="229918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48C90-E72E-7D17-F0F8-FCA1FA76418E}"/>
              </a:ext>
            </a:extLst>
          </p:cNvPr>
          <p:cNvSpPr>
            <a:spLocks noGrp="1"/>
          </p:cNvSpPr>
          <p:nvPr>
            <p:ph type="title"/>
          </p:nvPr>
        </p:nvSpPr>
        <p:spPr/>
        <p:txBody>
          <a:bodyPr/>
          <a:lstStyle/>
          <a:p>
            <a:r>
              <a:rPr lang="en-IN" dirty="0"/>
              <a:t>Specific Requirements</a:t>
            </a:r>
          </a:p>
        </p:txBody>
      </p:sp>
      <p:sp>
        <p:nvSpPr>
          <p:cNvPr id="3" name="Content Placeholder 2">
            <a:extLst>
              <a:ext uri="{FF2B5EF4-FFF2-40B4-BE49-F238E27FC236}">
                <a16:creationId xmlns:a16="http://schemas.microsoft.com/office/drawing/2014/main" id="{8A580074-37CC-C56C-006B-57484BCDAFE6}"/>
              </a:ext>
            </a:extLst>
          </p:cNvPr>
          <p:cNvSpPr>
            <a:spLocks noGrp="1"/>
          </p:cNvSpPr>
          <p:nvPr>
            <p:ph idx="1"/>
          </p:nvPr>
        </p:nvSpPr>
        <p:spPr/>
        <p:txBody>
          <a:bodyPr/>
          <a:lstStyle/>
          <a:p>
            <a:r>
              <a:rPr lang="en-IN" dirty="0"/>
              <a:t>Functionality</a:t>
            </a:r>
          </a:p>
          <a:p>
            <a:r>
              <a:rPr lang="en-IN" dirty="0"/>
              <a:t>Keystroke Logging:</a:t>
            </a:r>
          </a:p>
          <a:p>
            <a:r>
              <a:rPr lang="en-IN" dirty="0"/>
              <a:t>A keylogger captures and records every keystroke made by the user. </a:t>
            </a:r>
          </a:p>
          <a:p>
            <a:r>
              <a:rPr lang="en-IN" dirty="0"/>
              <a:t> It tracks information typed on keyboards, including: </a:t>
            </a:r>
          </a:p>
          <a:p>
            <a:r>
              <a:rPr lang="en-IN" dirty="0"/>
              <a:t>▪ Passwords: Keyloggers can record login credentials, PINs, and other sensitive data.</a:t>
            </a:r>
          </a:p>
          <a:p>
            <a:r>
              <a:rPr lang="en-IN" dirty="0"/>
              <a:t> ▪ Messages: They log messages typed in chat applications, emails, and other communication platforms.</a:t>
            </a:r>
          </a:p>
          <a:p>
            <a:r>
              <a:rPr lang="en-IN" dirty="0"/>
              <a:t> ▪ Commands: Keyloggers capture commands executed in the command prompt or terminal.</a:t>
            </a:r>
          </a:p>
          <a:p>
            <a:pPr marL="0" indent="0">
              <a:buNone/>
            </a:pPr>
            <a:endParaRPr lang="en-IN" dirty="0"/>
          </a:p>
        </p:txBody>
      </p:sp>
    </p:spTree>
    <p:extLst>
      <p:ext uri="{BB962C8B-B14F-4D97-AF65-F5344CB8AC3E}">
        <p14:creationId xmlns:p14="http://schemas.microsoft.com/office/powerpoint/2010/main" val="338849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DC347E-0AA1-8F8F-D971-40744A75C1FE}"/>
              </a:ext>
            </a:extLst>
          </p:cNvPr>
          <p:cNvPicPr>
            <a:picLocks noChangeAspect="1"/>
          </p:cNvPicPr>
          <p:nvPr/>
        </p:nvPicPr>
        <p:blipFill>
          <a:blip r:embed="rId2"/>
          <a:stretch>
            <a:fillRect/>
          </a:stretch>
        </p:blipFill>
        <p:spPr>
          <a:xfrm>
            <a:off x="1442127" y="1045606"/>
            <a:ext cx="7628721" cy="5719683"/>
          </a:xfrm>
          <a:prstGeom prst="rect">
            <a:avLst/>
          </a:prstGeom>
        </p:spPr>
      </p:pic>
      <p:sp>
        <p:nvSpPr>
          <p:cNvPr id="4" name="Title 1">
            <a:extLst>
              <a:ext uri="{FF2B5EF4-FFF2-40B4-BE49-F238E27FC236}">
                <a16:creationId xmlns:a16="http://schemas.microsoft.com/office/drawing/2014/main" id="{84BC861A-6B36-1706-3533-CC867A236105}"/>
              </a:ext>
            </a:extLst>
          </p:cNvPr>
          <p:cNvSpPr>
            <a:spLocks noGrp="1"/>
          </p:cNvSpPr>
          <p:nvPr>
            <p:ph type="title"/>
          </p:nvPr>
        </p:nvSpPr>
        <p:spPr>
          <a:xfrm>
            <a:off x="1517903" y="165862"/>
            <a:ext cx="7628721" cy="803402"/>
          </a:xfrm>
        </p:spPr>
        <p:txBody>
          <a:bodyPr>
            <a:normAutofit/>
          </a:bodyPr>
          <a:lstStyle/>
          <a:p>
            <a:pPr marL="285750" indent="-285750">
              <a:buFont typeface="Wingdings" panose="05000000000000000000" pitchFamily="2" charset="2"/>
              <a:buChar char="§"/>
            </a:pPr>
            <a:r>
              <a:rPr lang="en-IN" sz="1800" dirty="0"/>
              <a:t>INPUT</a:t>
            </a:r>
          </a:p>
        </p:txBody>
      </p:sp>
    </p:spTree>
    <p:extLst>
      <p:ext uri="{BB962C8B-B14F-4D97-AF65-F5344CB8AC3E}">
        <p14:creationId xmlns:p14="http://schemas.microsoft.com/office/powerpoint/2010/main" val="298207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EC34591-9518-F5CB-EADB-8F5AFD9E6FBE}"/>
              </a:ext>
            </a:extLst>
          </p:cNvPr>
          <p:cNvPicPr>
            <a:picLocks noChangeAspect="1"/>
          </p:cNvPicPr>
          <p:nvPr/>
        </p:nvPicPr>
        <p:blipFill>
          <a:blip r:embed="rId2"/>
          <a:stretch>
            <a:fillRect/>
          </a:stretch>
        </p:blipFill>
        <p:spPr>
          <a:xfrm>
            <a:off x="1667680" y="359409"/>
            <a:ext cx="7795936" cy="5883150"/>
          </a:xfrm>
          <a:prstGeom prst="rect">
            <a:avLst/>
          </a:prstGeom>
        </p:spPr>
      </p:pic>
    </p:spTree>
    <p:extLst>
      <p:ext uri="{BB962C8B-B14F-4D97-AF65-F5344CB8AC3E}">
        <p14:creationId xmlns:p14="http://schemas.microsoft.com/office/powerpoint/2010/main" val="4053015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CC6A1A7-B28E-06EC-5280-0637E2D426B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00480" y="731520"/>
            <a:ext cx="9591040" cy="5394960"/>
          </a:xfrm>
          <a:prstGeom prst="rect">
            <a:avLst/>
          </a:prstGeom>
        </p:spPr>
      </p:pic>
    </p:spTree>
    <p:extLst>
      <p:ext uri="{BB962C8B-B14F-4D97-AF65-F5344CB8AC3E}">
        <p14:creationId xmlns:p14="http://schemas.microsoft.com/office/powerpoint/2010/main" val="2131966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7ED5C3-2D8C-BA03-B68C-7C6B583DA748}"/>
              </a:ext>
            </a:extLst>
          </p:cNvPr>
          <p:cNvSpPr>
            <a:spLocks noGrp="1"/>
          </p:cNvSpPr>
          <p:nvPr>
            <p:ph idx="1"/>
          </p:nvPr>
        </p:nvSpPr>
        <p:spPr>
          <a:xfrm>
            <a:off x="1280160" y="192025"/>
            <a:ext cx="6291072" cy="704088"/>
          </a:xfrm>
        </p:spPr>
        <p:txBody>
          <a:bodyPr/>
          <a:lstStyle/>
          <a:p>
            <a:r>
              <a:rPr lang="en-IN" dirty="0"/>
              <a:t>output</a:t>
            </a:r>
          </a:p>
        </p:txBody>
      </p:sp>
      <p:pic>
        <p:nvPicPr>
          <p:cNvPr id="5" name="Picture 4">
            <a:extLst>
              <a:ext uri="{FF2B5EF4-FFF2-40B4-BE49-F238E27FC236}">
                <a16:creationId xmlns:a16="http://schemas.microsoft.com/office/drawing/2014/main" id="{44BE7EF9-B9FD-4877-2632-52DB4B1D9DFD}"/>
              </a:ext>
            </a:extLst>
          </p:cNvPr>
          <p:cNvPicPr>
            <a:picLocks noChangeAspect="1"/>
          </p:cNvPicPr>
          <p:nvPr/>
        </p:nvPicPr>
        <p:blipFill>
          <a:blip r:embed="rId2"/>
          <a:stretch>
            <a:fillRect/>
          </a:stretch>
        </p:blipFill>
        <p:spPr>
          <a:xfrm>
            <a:off x="2330958" y="765386"/>
            <a:ext cx="2515362" cy="5589693"/>
          </a:xfrm>
          <a:prstGeom prst="rect">
            <a:avLst/>
          </a:prstGeom>
        </p:spPr>
      </p:pic>
      <p:pic>
        <p:nvPicPr>
          <p:cNvPr id="7" name="Picture 6">
            <a:extLst>
              <a:ext uri="{FF2B5EF4-FFF2-40B4-BE49-F238E27FC236}">
                <a16:creationId xmlns:a16="http://schemas.microsoft.com/office/drawing/2014/main" id="{11F323D3-0965-2580-C582-F05E97A14ACE}"/>
              </a:ext>
            </a:extLst>
          </p:cNvPr>
          <p:cNvPicPr>
            <a:picLocks noChangeAspect="1"/>
          </p:cNvPicPr>
          <p:nvPr/>
        </p:nvPicPr>
        <p:blipFill>
          <a:blip r:embed="rId3"/>
          <a:stretch>
            <a:fillRect/>
          </a:stretch>
        </p:blipFill>
        <p:spPr>
          <a:xfrm>
            <a:off x="6313550" y="704092"/>
            <a:ext cx="2515363" cy="5589696"/>
          </a:xfrm>
          <a:prstGeom prst="rect">
            <a:avLst/>
          </a:prstGeom>
        </p:spPr>
      </p:pic>
    </p:spTree>
    <p:extLst>
      <p:ext uri="{BB962C8B-B14F-4D97-AF65-F5344CB8AC3E}">
        <p14:creationId xmlns:p14="http://schemas.microsoft.com/office/powerpoint/2010/main" val="313691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094BD-C66B-BA2B-0458-910BC8188BA0}"/>
              </a:ext>
            </a:extLst>
          </p:cNvPr>
          <p:cNvSpPr>
            <a:spLocks noGrp="1"/>
          </p:cNvSpPr>
          <p:nvPr>
            <p:ph idx="1"/>
          </p:nvPr>
        </p:nvSpPr>
        <p:spPr>
          <a:xfrm>
            <a:off x="1362456" y="320040"/>
            <a:ext cx="9363456" cy="6318504"/>
          </a:xfrm>
        </p:spPr>
        <p:txBody>
          <a:bodyPr/>
          <a:lstStyle/>
          <a:p>
            <a:r>
              <a:rPr lang="en-IN" dirty="0"/>
              <a:t>2. Data Collection:  Keyloggers collect a wide range of data beyond keystrokes: </a:t>
            </a:r>
          </a:p>
          <a:p>
            <a:r>
              <a:rPr lang="en-IN" dirty="0"/>
              <a:t>▪ Websites Visited: They track URLs visited by the user.</a:t>
            </a:r>
          </a:p>
          <a:p>
            <a:r>
              <a:rPr lang="en-IN" dirty="0"/>
              <a:t>▪ Applications Launched: Keyloggers record which programs are opened. </a:t>
            </a:r>
          </a:p>
          <a:p>
            <a:r>
              <a:rPr lang="en-IN" dirty="0"/>
              <a:t>▪ File Operations: Changes to files (creation, modification, deletion) are logged. 3. Stealth Mode: </a:t>
            </a:r>
          </a:p>
          <a:p>
            <a:r>
              <a:rPr lang="en-IN" dirty="0"/>
              <a:t> Keyloggers operate silently in the background, often without the user’s awareness. o They avoid detection by:</a:t>
            </a:r>
          </a:p>
          <a:p>
            <a:r>
              <a:rPr lang="en-IN" dirty="0"/>
              <a:t> ▪ Hiding Processes: Keyloggers don’t appear in the task manager or process list. ▪ Low Resource Usage: They minimize CPU and memory usage</a:t>
            </a:r>
          </a:p>
          <a:p>
            <a:endParaRPr lang="en-IN" dirty="0"/>
          </a:p>
        </p:txBody>
      </p:sp>
    </p:spTree>
    <p:extLst>
      <p:ext uri="{BB962C8B-B14F-4D97-AF65-F5344CB8AC3E}">
        <p14:creationId xmlns:p14="http://schemas.microsoft.com/office/powerpoint/2010/main" val="1152712986"/>
      </p:ext>
    </p:extLst>
  </p:cSld>
  <p:clrMapOvr>
    <a:masterClrMapping/>
  </p:clrMapOvr>
</p:sld>
</file>

<file path=ppt/theme/theme1.xml><?xml version="1.0" encoding="utf-8"?>
<a:theme xmlns:a="http://schemas.openxmlformats.org/drawingml/2006/main" name="View">
  <a:themeElements>
    <a:clrScheme name="View">
      <a:dk1>
        <a:sysClr val="windowText" lastClr="000000"/>
      </a:dk1>
      <a:lt1>
        <a:sysClr val="window" lastClr="FFFFFF"/>
      </a:lt1>
      <a:dk2>
        <a:srgbClr val="564B3C"/>
      </a:dk2>
      <a:lt2>
        <a:srgbClr val="ECEDD1"/>
      </a:lt2>
      <a:accent1>
        <a:srgbClr val="93A299"/>
      </a:accent1>
      <a:accent2>
        <a:srgbClr val="CB4B30"/>
      </a:accent2>
      <a:accent3>
        <a:srgbClr val="B5AE53"/>
      </a:accent3>
      <a:accent4>
        <a:srgbClr val="6F6A7A"/>
      </a:accent4>
      <a:accent5>
        <a:srgbClr val="E8B54D"/>
      </a:accent5>
      <a:accent6>
        <a:srgbClr val="8A7952"/>
      </a:accent6>
      <a:hlink>
        <a:srgbClr val="9F9F0B"/>
      </a:hlink>
      <a:folHlink>
        <a:srgbClr val="B2B2B2"/>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3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866257B-E5CE-4C43-9210-F2DE76BE10B5}"/>
    </a:ext>
  </a:extLst>
</a:theme>
</file>

<file path=docProps/app.xml><?xml version="1.0" encoding="utf-8"?>
<Properties xmlns="http://schemas.openxmlformats.org/officeDocument/2006/extended-properties" xmlns:vt="http://schemas.openxmlformats.org/officeDocument/2006/docPropsVTypes">
  <Template>TM03457515[[fn=View]]</Template>
  <TotalTime>119</TotalTime>
  <Words>1397</Words>
  <Application>Microsoft Office PowerPoint</Application>
  <PresentationFormat>Widescreen</PresentationFormat>
  <Paragraphs>88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Century Schoolbook</vt:lpstr>
      <vt:lpstr>Wingdings</vt:lpstr>
      <vt:lpstr>Wingdings 2</vt:lpstr>
      <vt:lpstr>View</vt:lpstr>
      <vt:lpstr>KEYLOGGER</vt:lpstr>
      <vt:lpstr>Introduction </vt:lpstr>
      <vt:lpstr>Purpose</vt:lpstr>
      <vt:lpstr>Scope</vt:lpstr>
      <vt:lpstr>Definitions, Acronyms and Abbreviation</vt:lpstr>
      <vt:lpstr>References </vt:lpstr>
      <vt:lpstr>Overview</vt:lpstr>
      <vt:lpstr>Overall Description</vt:lpstr>
      <vt:lpstr>PowerPoint Presentation</vt:lpstr>
      <vt:lpstr>PowerPoint Presentation</vt:lpstr>
      <vt:lpstr>PowerPoint Presentation</vt:lpstr>
      <vt:lpstr>Specific Requirements</vt:lpstr>
      <vt:lpstr>INPUT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KEYSTROCKS</dc:title>
  <dc:creator>ANKIT PATEL</dc:creator>
  <cp:lastModifiedBy>ANKIT PATEL</cp:lastModifiedBy>
  <cp:revision>3</cp:revision>
  <dcterms:created xsi:type="dcterms:W3CDTF">2024-03-08T06:07:13Z</dcterms:created>
  <dcterms:modified xsi:type="dcterms:W3CDTF">2024-05-13T14:39:43Z</dcterms:modified>
</cp:coreProperties>
</file>